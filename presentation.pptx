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1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143000"/>
            <a:ext cx="3931920" cy="3931920"/>
          </a:xfrm>
          <a:prstGeom prst="ellipse">
            <a:avLst/>
          </a:prstGeom>
          <a:solidFill>
            <a:srgbClr val="1E90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GlucoTwin AI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603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C2DAE7"/>
                </a:solidFill>
              </a:defRPr>
            </a:pPr>
            <a:r>
              <a:t>Personalized Diabetes Digital Twin · Happiest Health Digital Twin Challenge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3657600"/>
            <a:ext cx="10241280" cy="640080"/>
          </a:xfrm>
          <a:prstGeom prst="roundRect">
            <a:avLst/>
          </a:prstGeom>
          <a:solidFill>
            <a:srgbClr val="224860"/>
          </a:solidFill>
          <a:ln>
            <a:solidFill>
              <a:srgbClr val="3E6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F6FBFD"/>
                </a:solidFill>
                <a:latin typeface="Aptos"/>
              </a:defRPr>
            </a:pPr>
            <a:r>
              <a:t>Project owner / team leader: SILAMBARASAN 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4379976"/>
            <a:ext cx="10241280" cy="640080"/>
          </a:xfrm>
          <a:prstGeom prst="roundRect">
            <a:avLst/>
          </a:prstGeom>
          <a:solidFill>
            <a:srgbClr val="224860"/>
          </a:solidFill>
          <a:ln>
            <a:solidFill>
              <a:srgbClr val="3E6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F6FBFD"/>
                </a:solidFill>
                <a:latin typeface="Aptos"/>
              </a:defRPr>
            </a:pPr>
            <a:r>
              <a:t>Muthayammal Engineering College · Tamil Nadu, India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5102352"/>
            <a:ext cx="10241280" cy="640080"/>
          </a:xfrm>
          <a:prstGeom prst="roundRect">
            <a:avLst/>
          </a:prstGeom>
          <a:solidFill>
            <a:srgbClr val="224860"/>
          </a:solidFill>
          <a:ln>
            <a:solidFill>
              <a:srgbClr val="3E6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F6FBFD"/>
                </a:solidFill>
                <a:latin typeface="Aptos"/>
              </a:defRPr>
            </a:pPr>
            <a:r>
              <a:t>Research prototype · all included demo data is synthetic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5824728"/>
            <a:ext cx="10241280" cy="640080"/>
          </a:xfrm>
          <a:prstGeom prst="roundRect">
            <a:avLst/>
          </a:prstGeom>
          <a:solidFill>
            <a:srgbClr val="224860"/>
          </a:solidFill>
          <a:ln>
            <a:solidFill>
              <a:srgbClr val="3E6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F6FBFD"/>
                </a:solidFill>
                <a:latin typeface="Aptos"/>
              </a:defRPr>
            </a:pPr>
            <a:r>
              <a:t>Not a medical device; not for diagnosis or care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528816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8ADBB"/>
                </a:solidFill>
              </a:defRPr>
            </a:pPr>
            <a:r>
              <a:t>GLUCOTWIN AI  ·  RESEARCH PROTOTYPE  ·  SYNTHETIC DATA  ·  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37160" cy="502920"/>
          </a:xfrm>
          <a:prstGeom prst="rect">
            <a:avLst/>
          </a:prstGeom>
          <a:solidFill>
            <a:srgbClr val="177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38912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  <a:latin typeface="Aptos Display"/>
              </a:defRPr>
            </a:pPr>
            <a:r>
              <a:t>The healthcare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143000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778B"/>
                </a:solidFill>
              </a:defRPr>
            </a:pPr>
            <a:r>
              <a:t>Glucose varies over time; retrospective review may not express a near-term individualized pattern.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828800"/>
            <a:ext cx="10241280" cy="13716"/>
          </a:xfrm>
          <a:prstGeom prst="rect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48840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Historical health context and current readings are often reviewed separately.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871216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A useful prototype should make time, data freshness, and missingness visible.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93592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This project demonstrates a technical workflow, not proven patient benefit.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528816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9A6"/>
                </a:solidFill>
              </a:defRPr>
            </a:pPr>
            <a:r>
              <a:t>GLUCOTWIN AI  ·  RESEARCH PROTOTYPE  ·  SYNTHETIC DATA  ·  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37160" cy="502920"/>
          </a:xfrm>
          <a:prstGeom prst="rect">
            <a:avLst/>
          </a:prstGeom>
          <a:solidFill>
            <a:srgbClr val="177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38912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143000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778B"/>
                </a:solidFill>
              </a:defRPr>
            </a:pPr>
            <a:r>
              <a:t>Link an anonymous profile to historical context and a dynamic observation timeline.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828800"/>
            <a:ext cx="10241280" cy="13716"/>
          </a:xfrm>
          <a:prstGeom prst="rect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48840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Store age, BMI, diabetes duration, and HbA1c only when available.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871216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Append timestamped glucose, heart rate, sleep, and step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93592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Estimate a bounded future event and return input timestamp, warnings, and a safety disclaimer.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528816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9A6"/>
                </a:solidFill>
              </a:defRPr>
            </a:pPr>
            <a:r>
              <a:t>GLUCOTWIN AI  ·  RESEARCH PROTOTYPE  ·  SYNTHETIC DATA  ·  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37160" cy="502920"/>
          </a:xfrm>
          <a:prstGeom prst="rect">
            <a:avLst/>
          </a:prstGeom>
          <a:solidFill>
            <a:srgbClr val="177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38912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  <a:latin typeface="Aptos Display"/>
              </a:defRPr>
            </a:pPr>
            <a:r>
              <a:t>Why a digital twin?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143000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778B"/>
                </a:solidFill>
              </a:defRPr>
            </a:pPr>
            <a:r>
              <a:t>An inspectable, updateable representation of a person's stored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828800"/>
            <a:ext cx="10241280" cy="13716"/>
          </a:xfrm>
          <a:prstGeom prst="rect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48840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Historical attributes and changing observations remain linked by anonymous patient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871216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Clinicians/evaluators can inspect the records behind a model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93592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This is a data twin proof of concept, not a full physiological replica.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528816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9A6"/>
                </a:solidFill>
              </a:defRPr>
            </a:pPr>
            <a:r>
              <a:t>GLUCOTWIN AI  ·  RESEARCH PROTOTYPE  ·  SYNTHETIC DATA  ·  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37160" cy="502920"/>
          </a:xfrm>
          <a:prstGeom prst="rect">
            <a:avLst/>
          </a:prstGeom>
          <a:solidFill>
            <a:srgbClr val="177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38912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  <a:latin typeface="Aptos Display"/>
              </a:defRPr>
            </a:pPr>
            <a:r>
              <a:t>Two data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143000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778B"/>
                </a:solidFill>
              </a:defRPr>
            </a:pPr>
            <a:r>
              <a:t>Static context + dynamic time-series observations.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828800"/>
            <a:ext cx="10241280" cy="13716"/>
          </a:xfrm>
          <a:prstGeom prst="rect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48840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Static: age, BMI, optional HbA1c and diabetes duration.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871216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Dynamic: timezone-aware glucose and optional heart rate, sleep, and activity.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93592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200">
                <a:solidFill>
                  <a:srgbClr val="314C60"/>
                </a:solidFill>
                <a:latin typeface="Aptos"/>
              </a:defRPr>
            </a:pPr>
            <a:r>
              <a:t>Synthetic trajectories are generated reproducibly and explicitly marked; no public or patient data is bundled.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528816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9A6"/>
                </a:solidFill>
              </a:defRPr>
            </a:pPr>
            <a:r>
              <a:t>GLUCOTWIN AI  ·  RESEARCH PROTOTYPE  ·  SYNTHETIC DATA  ·  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37160" cy="502920"/>
          </a:xfrm>
          <a:prstGeom prst="rect">
            <a:avLst/>
          </a:prstGeom>
          <a:solidFill>
            <a:srgbClr val="177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38912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143000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778B"/>
                </a:solidFill>
              </a:defRPr>
            </a:pPr>
            <a:r>
              <a:t>Validate → persist → engineer past-only features → infer → inspect.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828800"/>
            <a:ext cx="10241280" cy="13716"/>
          </a:xfrm>
          <a:prstGeom prst="rect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48840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FastAPI request schemas validate units, ranges, timestamps, and duplicate source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871216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SQLite stores anonymous profiles, readings, and predictions.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93592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A separate offline pipeline saves a trusted joblib artifact and held-out evaluation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4315968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See docs/architecture_diagram.pdf and editable docs/architecture_diagram.svg.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28816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9A6"/>
                </a:solidFill>
              </a:defRPr>
            </a:pPr>
            <a:r>
              <a:t>GLUCOTWIN AI  ·  RESEARCH PROTOTYPE  ·  SYNTHETIC DATA  ·  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37160" cy="502920"/>
          </a:xfrm>
          <a:prstGeom prst="rect">
            <a:avLst/>
          </a:prstGeom>
          <a:solidFill>
            <a:srgbClr val="177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38912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  <a:latin typeface="Aptos Display"/>
              </a:defRPr>
            </a:pPr>
            <a:r>
              <a:t>Dataset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143000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778B"/>
                </a:solidFill>
              </a:defRPr>
            </a:pPr>
            <a:r>
              <a:t>48,384 synthetic readings · 36 generated profiles · 14 days · 15-minute intervals.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828800"/>
            <a:ext cx="10241280" cy="13716"/>
          </a:xfrm>
          <a:prstGeom prst="rect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48840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200">
                <a:solidFill>
                  <a:srgbClr val="314C60"/>
                </a:solidFill>
                <a:latin typeface="Aptos"/>
              </a:defRPr>
            </a:pPr>
            <a:r>
              <a:t>Fixed seed 20260626; simplified meal pulses, circadian variation, noise, activity, sleep, and static attributes.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871216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Assumptions are software-test fixtures, not a clinical simulator.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93592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No external/public dataset was supplied or used; all demo records are labelled synthetic.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528816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9A6"/>
                </a:solidFill>
              </a:defRPr>
            </a:pPr>
            <a:r>
              <a:t>GLUCOTWIN AI  ·  RESEARCH PROTOTYPE  ·  SYNTHETIC DATA  ·  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37160" cy="502920"/>
          </a:xfrm>
          <a:prstGeom prst="rect">
            <a:avLst/>
          </a:prstGeom>
          <a:solidFill>
            <a:srgbClr val="177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38912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  <a:latin typeface="Aptos Display"/>
              </a:defRPr>
            </a:pPr>
            <a:r>
              <a:t>Past-only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143000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778B"/>
                </a:solidFill>
              </a:defRPr>
            </a:pPr>
            <a:r>
              <a:t>Use current and earlier observations as inputs; reserve future glucose for labels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828800"/>
            <a:ext cx="10241280" cy="13716"/>
          </a:xfrm>
          <a:prstGeom prst="rect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48840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Current glucose, 15- and 60-minute changes, 60-minute mean, and 120-minute variability.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871216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Heart rate, sleep, trailing steps, optional BMI/HbA1c, and time-of-day encoding.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93592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Training-fitted median imputation; irregular 15-minute training cadence is rejected.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528816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9A6"/>
                </a:solidFill>
              </a:defRPr>
            </a:pPr>
            <a:r>
              <a:t>GLUCOTWIN AI  ·  RESEARCH PROTOTYPE  ·  SYNTHETIC DATA  ·  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37160" cy="502920"/>
          </a:xfrm>
          <a:prstGeom prst="rect">
            <a:avLst/>
          </a:prstGeom>
          <a:solidFill>
            <a:srgbClr val="177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38912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  <a:latin typeface="Aptos Display"/>
              </a:defRPr>
            </a:pPr>
            <a:r>
              <a:t>Target and training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143000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778B"/>
                </a:solidFill>
              </a:defRPr>
            </a:pPr>
            <a:r>
              <a:t>Prototype label: any of the next eight 15-minute glucose readings reaches ≥180 mg/dL.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828800"/>
            <a:ext cx="10241280" cy="13716"/>
          </a:xfrm>
          <a:prstGeom prst="rect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48840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This is an explicit project target, not a universal medical standard.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871216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Patient-group holdout: 21 train, 7 validation, 8 test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93592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Prior baseline, Logistic Regression, and Random Forest compared; selected on validation PR-AUC.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4315968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Training-only class weighting; no test-set tuning; default threshold 0.5 is reported.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28816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9A6"/>
                </a:solidFill>
              </a:defRPr>
            </a:pPr>
            <a:r>
              <a:t>GLUCOTWIN AI  ·  RESEARCH PROTOTYPE  ·  SYNTHETIC DATA  ·  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37160" cy="502920"/>
          </a:xfrm>
          <a:prstGeom prst="rect">
            <a:avLst/>
          </a:prstGeom>
          <a:solidFill>
            <a:srgbClr val="177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38912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  <a:latin typeface="Aptos Display"/>
              </a:defRPr>
            </a:pPr>
            <a:r>
              <a:t>Model selection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143000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778B"/>
                </a:solidFill>
              </a:defRPr>
            </a:pPr>
            <a:r>
              <a:t>Actual generated results are reported only when the evaluation artifact exists.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828800"/>
            <a:ext cx="10241280" cy="13716"/>
          </a:xfrm>
          <a:prstGeom prst="rect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48840"/>
            <a:ext cx="10241280" cy="595884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Validation PR-AUC: prior 0.2630; logistic 0.6577; Random Forest 0.8548.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827020"/>
            <a:ext cx="10241280" cy="595884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Selected by validation PR-AUC: random_forest.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05200"/>
            <a:ext cx="10241280" cy="595884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Held-out test at fixed 0.5: precision 0.7781; recall 0.5590; F1 0.6506.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4183380"/>
            <a:ext cx="10241280" cy="595884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PR-AUC 0.7983; ROC-AUC 0.9339; n=10,688 rows from 8 held-out synthetic profiles.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4861560"/>
            <a:ext cx="10241280" cy="595884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Confusion matrix [[TN, FP], [FN, TP]]: [[8106, 355], [982, 1245]].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5539740"/>
            <a:ext cx="10241280" cy="595884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These are synthetic-only results, not clinical validation; the test was not used for model selection.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28816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9A6"/>
                </a:solidFill>
              </a:defRPr>
            </a:pPr>
            <a:r>
              <a:t>GLUCOTWIN AI  ·  RESEARCH PROTOTYPE  ·  SYNTHETIC DATA  · 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37160" cy="502920"/>
          </a:xfrm>
          <a:prstGeom prst="rect">
            <a:avLst/>
          </a:prstGeom>
          <a:solidFill>
            <a:srgbClr val="177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38912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  <a:latin typeface="Aptos Display"/>
              </a:defRPr>
            </a:pPr>
            <a:r>
              <a:t>Prediction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143000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778B"/>
                </a:solidFill>
              </a:defRPr>
            </a:pPr>
            <a:r>
              <a:t>Latest readings → past-only feature row → model score → persisted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828800"/>
            <a:ext cx="10241280" cy="13716"/>
          </a:xfrm>
          <a:prstGeom prst="rect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48840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API returns patient ID, prediction time, 120-minute horizon, event definition, and model version.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871216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200">
                <a:solidFill>
                  <a:srgbClr val="314C60"/>
                </a:solidFill>
                <a:latin typeface="Aptos"/>
              </a:defRPr>
            </a:pPr>
            <a:r>
              <a:t>Response includes uncalibrated raw score, input timestamp, observed signals, global model ranking, quality warnings, and disclaimer.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93592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If training was not completed, inference returns a clear service error and training command.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528816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9A6"/>
                </a:solidFill>
              </a:defRPr>
            </a:pPr>
            <a:r>
              <a:t>GLUCOTWIN AI  ·  RESEARCH PROTOTYPE  ·  SYNTHETIC DATA  · 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37160" cy="502920"/>
          </a:xfrm>
          <a:prstGeom prst="rect">
            <a:avLst/>
          </a:prstGeom>
          <a:solidFill>
            <a:srgbClr val="177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38912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  <a:latin typeface="Aptos Display"/>
              </a:defRPr>
            </a:pPr>
            <a:r>
              <a:t>Dashboard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143000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778B"/>
                </a:solidFill>
              </a:defRPr>
            </a:pPr>
            <a:r>
              <a:t>The browser dashboard reads patient, observations, score history, and evaluation from FastAPI.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828800"/>
            <a:ext cx="10241280" cy="13716"/>
          </a:xfrm>
          <a:prstGeom prst="rect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48840"/>
            <a:ext cx="4526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Select backend-returned profiles; inspect measured-only glucose chart and source timeline.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871216"/>
            <a:ext cx="4526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Add a manual observation without a fake sensor connection.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93592"/>
            <a:ext cx="4526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Review stale/missing context, synthetic labels, score limitations, and backend evaluation.</a:t>
            </a:r>
          </a:p>
        </p:txBody>
      </p:sp>
      <p:pic>
        <p:nvPicPr>
          <p:cNvPr id="9" name="Picture 8" descr="dashboard_synth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148840"/>
            <a:ext cx="5349240" cy="3343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06440" y="5687568"/>
            <a:ext cx="5349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778B"/>
                </a:solidFill>
              </a:defRPr>
            </a:pPr>
            <a:r>
              <a:t>Actual prototype UI · synthetic demo records · local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28816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9A6"/>
                </a:solidFill>
              </a:defRPr>
            </a:pPr>
            <a:r>
              <a:t>GLUCOTWIN AI  ·  RESEARCH PROTOTYPE  ·  SYNTHETIC DATA  · 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37160" cy="502920"/>
          </a:xfrm>
          <a:prstGeom prst="rect">
            <a:avLst/>
          </a:prstGeom>
          <a:solidFill>
            <a:srgbClr val="177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38912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  <a:latin typeface="Aptos Display"/>
              </a:defRPr>
            </a:pPr>
            <a:r>
              <a:t>Synthetic patient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143000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778B"/>
                </a:solidFill>
              </a:defRPr>
            </a:pPr>
            <a:r>
              <a:t>A generated synthetic profile; the prediction is an experimental model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828800"/>
            <a:ext cx="10241280" cy="13716"/>
          </a:xfrm>
          <a:prstGeom prst="rect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48840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Generated synthetic profile SYN-033; measured input at 2025-01-10T13:00:00Z was 176.5 mg/dL.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871216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Actual saved model returned raw score 0.9916; uncalibrated, not an individual clinical probability.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93592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200">
                <a:solidFill>
                  <a:srgbClr val="314C60"/>
                </a:solidFill>
                <a:latin typeface="Aptos"/>
              </a:defRPr>
            </a:pPr>
            <a:r>
              <a:t>The simulated next-eight-row target is positive at this point. This historical synthetic example is stale and is not a current reading or care recommendation.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528816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9A6"/>
                </a:solidFill>
              </a:defRPr>
            </a:pPr>
            <a:r>
              <a:t>GLUCOTWIN AI  ·  RESEARCH PROTOTYPE  ·  SYNTHETIC DATA  · 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37160" cy="502920"/>
          </a:xfrm>
          <a:prstGeom prst="rect">
            <a:avLst/>
          </a:prstGeom>
          <a:solidFill>
            <a:srgbClr val="177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38912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  <a:latin typeface="Aptos Display"/>
              </a:defRPr>
            </a:pPr>
            <a: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143000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778B"/>
                </a:solidFill>
              </a:defRPr>
            </a:pPr>
            <a:r>
              <a:t>The current score does not establish safety, usefulness, or generalization.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828800"/>
            <a:ext cx="10241280" cy="13716"/>
          </a:xfrm>
          <a:prstGeom prst="rect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48840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200">
                <a:solidFill>
                  <a:srgbClr val="314C60"/>
                </a:solidFill>
                <a:latin typeface="Aptos"/>
              </a:defRPr>
            </a:pPr>
            <a:r>
              <a:t>Only synthetic data; simplified generator; one project-defined threshold; small number of held-out synthetic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871216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200">
                <a:solidFill>
                  <a:srgbClr val="314C60"/>
                </a:solidFill>
                <a:latin typeface="Aptos"/>
              </a:defRPr>
            </a:pPr>
            <a:r>
              <a:t>No external validation, calibration, confidence interval, subgroup analysis, clinical review, or prospective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93592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No authentication or production security; SQLite is local demonstration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4315968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200">
                <a:solidFill>
                  <a:srgbClr val="314C60"/>
                </a:solidFill>
                <a:latin typeface="Aptos"/>
              </a:defRPr>
            </a:pPr>
            <a:r>
              <a:t>Next: licensed representative data, ethics/clinical review, external validation, calibration, subgroup evaluation, and security controls.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28816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9A6"/>
                </a:solidFill>
              </a:defRPr>
            </a:pPr>
            <a:r>
              <a:t>GLUCOTWIN AI  ·  RESEARCH PROTOTYPE  ·  SYNTHETIC DATA  · 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137160" cy="502920"/>
          </a:xfrm>
          <a:prstGeom prst="rect">
            <a:avLst/>
          </a:prstGeom>
          <a:solidFill>
            <a:srgbClr val="177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38912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448"/>
                </a:solidFill>
                <a:latin typeface="Aptos Display"/>
              </a:defRPr>
            </a:pPr>
            <a:r>
              <a:t>Conclusion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143000"/>
            <a:ext cx="10241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778B"/>
                </a:solidFill>
              </a:defRPr>
            </a:pPr>
            <a:r>
              <a:t>A reproducible full-stack technical proof of concept, not a clinical product.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1828800"/>
            <a:ext cx="10241280" cy="13716"/>
          </a:xfrm>
          <a:prstGeom prst="rect">
            <a:avLst/>
          </a:prstGeom>
          <a:solidFill>
            <a:srgbClr val="DC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148840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Project documentation: README, model card, data dictionary, limitations, and 21-minute demo 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871216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200">
                <a:solidFill>
                  <a:srgbClr val="314C60"/>
                </a:solidFill>
                <a:latin typeface="Aptos"/>
              </a:defRPr>
            </a:pPr>
            <a:r>
              <a:t>References: FastAPI documentation; scikit-learn documentation; SQLite documentation; Chart.js documentation.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593592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200">
                <a:solidFill>
                  <a:srgbClr val="314C60"/>
                </a:solidFill>
                <a:latin typeface="Aptos"/>
              </a:defRPr>
            </a:pPr>
            <a:r>
              <a:t>Team leader must verify submission rules, add only confirmed team details, and insert actual repository/video links.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4315968"/>
            <a:ext cx="102412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54864" bIns="27432"/>
          <a:lstStyle/>
          <a:p>
            <a:pPr algn="ctr">
              <a:defRPr sz="1500">
                <a:solidFill>
                  <a:srgbClr val="314C60"/>
                </a:solidFill>
                <a:latin typeface="Aptos"/>
              </a:defRPr>
            </a:pPr>
            <a:r>
              <a:t>Thank you · Happiest Health Digital Twin Challenge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28816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599A6"/>
                </a:solidFill>
              </a:defRPr>
            </a:pPr>
            <a:r>
              <a:t>GLUCOTWIN AI  ·  RESEARCH PROTOTYPE  ·  SYNTHETIC DATA  ·  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